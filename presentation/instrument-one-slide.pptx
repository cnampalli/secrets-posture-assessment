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121F"/>
              </a:gs>
              <a:gs pos="100000">
                <a:srgbClr val="06080E"/>
              </a:gs>
            </a:gsLst>
            <a:lin ang="75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194560"/>
            <a:ext cx="6583680" cy="6583680"/>
          </a:xfrm>
          <a:prstGeom prst="ellipse">
            <a:avLst/>
          </a:prstGeom>
          <a:solidFill>
            <a:srgbClr val="12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828800"/>
            <a:ext cx="6035040" cy="6035040"/>
          </a:xfrm>
          <a:prstGeom prst="ellipse">
            <a:avLst/>
          </a:prstGeom>
          <a:solidFill>
            <a:srgbClr val="181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4206240"/>
            <a:ext cx="6217920" cy="6217920"/>
          </a:xfrm>
          <a:prstGeom prst="ellipse">
            <a:avLst/>
          </a:prstGeom>
          <a:solidFill>
            <a:srgbClr val="332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841248"/>
            <a:ext cx="10545775" cy="12700"/>
          </a:xfrm>
          <a:prstGeom prst="rect">
            <a:avLst/>
          </a:prstGeom>
          <a:gradFill>
            <a:gsLst>
              <a:gs pos="0">
                <a:srgbClr val="E8B04B"/>
              </a:gs>
              <a:gs pos="100000">
                <a:srgbClr val="070A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22960" y="457200"/>
            <a:ext cx="146304" cy="146304"/>
          </a:xfrm>
          <a:prstGeom prst="diamond">
            <a:avLst/>
          </a:prstGeom>
          <a:gradFill>
            <a:gsLst>
              <a:gs pos="0">
                <a:srgbClr val="E8B04B"/>
              </a:gs>
              <a:gs pos="100000">
                <a:srgbClr val="1FB287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20624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 spc="300">
                <a:solidFill>
                  <a:srgbClr val="C8CDD6"/>
                </a:solidFill>
                <a:latin typeface="Consolas"/>
              </a:rPr>
              <a:t>THE </a:t>
            </a:r>
            <a:r>
              <a:rPr sz="1200" b="1" i="0" spc="300">
                <a:solidFill>
                  <a:srgbClr val="F4F1EA"/>
                </a:solidFill>
                <a:latin typeface="Consolas"/>
              </a:rPr>
              <a:t>INSTRUMENT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535" y="420624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0" i="0" spc="200">
                <a:solidFill>
                  <a:srgbClr val="8A93A4"/>
                </a:solidFill>
                <a:latin typeface="Consolas"/>
              </a:rPr>
              <a:t>IDENTITY-SECURITY POSTURE · VENDOR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250">
                <a:solidFill>
                  <a:srgbClr val="E8B04B"/>
                </a:solidFill>
                <a:latin typeface="Consolas"/>
              </a:rPr>
              <a:t>ONE INSTRUMENT  ·  ONE POSTURE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554480"/>
            <a:ext cx="6583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4000" b="0" i="0">
                <a:solidFill>
                  <a:srgbClr val="F4F1EA"/>
                </a:solidFill>
                <a:latin typeface="Georgia"/>
              </a:rPr>
              <a:t>One verdict you can </a:t>
            </a:r>
            <a:r>
              <a:rPr sz="4000" b="0" i="1">
                <a:solidFill>
                  <a:srgbClr val="E8B04B"/>
                </a:solidFill>
                <a:latin typeface="Georgia"/>
              </a:rPr>
              <a:t>defend</a:t>
            </a:r>
          </a:p>
          <a:p>
            <a:pPr>
              <a:lnSpc>
                <a:spcPct val="98000"/>
              </a:lnSpc>
            </a:pPr>
            <a:r>
              <a:rPr sz="4000" b="0" i="0">
                <a:solidFill>
                  <a:srgbClr val="F4F1EA"/>
                </a:solidFill>
                <a:latin typeface="Georgia"/>
              </a:rPr>
              <a:t>across the whole identity estate.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6126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 i="0">
                <a:solidFill>
                  <a:srgbClr val="C8CDD6"/>
                </a:solidFill>
                <a:latin typeface="Hanken Grotesk"/>
              </a:rPr>
              <a:t>An </a:t>
            </a:r>
            <a:r>
              <a:rPr sz="1450" b="1" i="0">
                <a:solidFill>
                  <a:srgbClr val="F4F1EA"/>
                </a:solidFill>
                <a:latin typeface="Hanken Grotesk"/>
              </a:rPr>
              <a:t>offline, evidence-gated</a:t>
            </a:r>
            <a:r>
              <a:rPr sz="1450" b="0" i="0">
                <a:solidFill>
                  <a:srgbClr val="C8CDD6"/>
                </a:solidFill>
                <a:latin typeface="Hanken Grotesk"/>
              </a:rPr>
              <a:t> engine that scores Secrets, Privileged Access &amp; Identity Governance as a single posture — and proves every verdict, with a cited source, to your </a:t>
            </a:r>
            <a:r>
              <a:rPr sz="1450" b="1" i="0">
                <a:solidFill>
                  <a:srgbClr val="F4F1EA"/>
                </a:solidFill>
                <a:latin typeface="Hanken Grotesk"/>
              </a:rPr>
              <a:t>board and your regulator.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92040"/>
            <a:ext cx="1309420" cy="384048"/>
          </a:xfrm>
          <a:prstGeom prst="roundRect">
            <a:avLst>
              <a:gd name="adj" fmla="val 50000"/>
            </a:avLst>
          </a:prstGeom>
          <a:solidFill>
            <a:srgbClr val="0E141D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5038344"/>
            <a:ext cx="91440" cy="91440"/>
          </a:xfrm>
          <a:prstGeom prst="ellipse">
            <a:avLst/>
          </a:prstGeom>
          <a:solidFill>
            <a:srgbClr val="1FB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901184"/>
            <a:ext cx="9985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 spc="100">
                <a:solidFill>
                  <a:srgbClr val="C8CDD6"/>
                </a:solidFill>
                <a:latin typeface="Consolas"/>
              </a:rPr>
              <a:t>SELF-HOSTED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96972" y="4892040"/>
            <a:ext cx="1561795" cy="384048"/>
          </a:xfrm>
          <a:prstGeom prst="roundRect">
            <a:avLst>
              <a:gd name="adj" fmla="val 50000"/>
            </a:avLst>
          </a:prstGeom>
          <a:solidFill>
            <a:srgbClr val="0E141D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43276" y="5038344"/>
            <a:ext cx="91440" cy="91440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9580" y="4901184"/>
            <a:ext cx="12508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 spc="100">
                <a:solidFill>
                  <a:srgbClr val="C8CDD6"/>
                </a:solidFill>
                <a:latin typeface="Consolas"/>
              </a:rPr>
              <a:t>EVIDENCE-GATED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892040"/>
            <a:ext cx="1730044" cy="384048"/>
          </a:xfrm>
          <a:prstGeom prst="roundRect">
            <a:avLst>
              <a:gd name="adj" fmla="val 50000"/>
            </a:avLst>
          </a:prstGeom>
          <a:solidFill>
            <a:srgbClr val="0E141D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9664" y="5038344"/>
            <a:ext cx="91440" cy="91440"/>
          </a:xfrm>
          <a:prstGeom prst="ellipse">
            <a:avLst/>
          </a:prstGeom>
          <a:solidFill>
            <a:srgbClr val="19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4901184"/>
            <a:ext cx="14191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 spc="100">
                <a:solidFill>
                  <a:srgbClr val="C8CDD6"/>
                </a:solidFill>
                <a:latin typeface="Consolas"/>
              </a:rPr>
              <a:t>BOARD-DEFENSIBLE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17996" y="4892040"/>
            <a:ext cx="2150668" cy="384048"/>
          </a:xfrm>
          <a:prstGeom prst="roundRect">
            <a:avLst>
              <a:gd name="adj" fmla="val 50000"/>
            </a:avLst>
          </a:prstGeom>
          <a:solidFill>
            <a:srgbClr val="0E141D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64300" y="5038344"/>
            <a:ext cx="91440" cy="91440"/>
          </a:xfrm>
          <a:prstGeom prst="ellipse">
            <a:avLst/>
          </a:prstGeom>
          <a:solidFill>
            <a:srgbClr val="61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0604" y="4901184"/>
            <a:ext cx="18397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 spc="100">
                <a:solidFill>
                  <a:srgbClr val="C8CDD6"/>
                </a:solidFill>
                <a:latin typeface="Consolas"/>
              </a:rPr>
              <a:t>2026-FORWARD TAXONOMY</a:t>
            </a:r>
          </a:p>
        </p:txBody>
      </p:sp>
      <p:sp>
        <p:nvSpPr>
          <p:cNvPr id="25" name="Oval 24"/>
          <p:cNvSpPr/>
          <p:nvPr/>
        </p:nvSpPr>
        <p:spPr>
          <a:xfrm>
            <a:off x="8165592" y="1261872"/>
            <a:ext cx="2962656" cy="2962656"/>
          </a:xfrm>
          <a:prstGeom prst="ellipse">
            <a:avLst/>
          </a:prstGeom>
          <a:noFill/>
          <a:ln w="19050">
            <a:solidFill>
              <a:srgbClr val="1FB2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80363" y="1676643"/>
            <a:ext cx="2133112" cy="2133112"/>
          </a:xfrm>
          <a:prstGeom prst="ellipse">
            <a:avLst/>
          </a:prstGeom>
          <a:noFill/>
          <a:ln w="12700">
            <a:solidFill>
              <a:srgbClr val="61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5509" y="2061789"/>
            <a:ext cx="1362821" cy="1362821"/>
          </a:xfrm>
          <a:prstGeom prst="ellipse">
            <a:avLst/>
          </a:prstGeom>
          <a:gradFill>
            <a:gsLst>
              <a:gs pos="0">
                <a:srgbClr val="16202E"/>
              </a:gs>
              <a:gs pos="100000">
                <a:srgbClr val="090D15"/>
              </a:gs>
            </a:gsLst>
            <a:lin ang="7200000" scaled="1"/>
          </a:gra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5509" y="2359152"/>
            <a:ext cx="136282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F4F1EA"/>
                </a:solidFill>
                <a:latin typeface="Georgia"/>
              </a:rPr>
              <a:t>3 → 1</a:t>
            </a:r>
          </a:p>
          <a:p>
            <a:pPr algn="ctr"/>
            <a:r>
              <a:rPr sz="700" b="0" i="0" spc="150">
                <a:solidFill>
                  <a:srgbClr val="E8B04B"/>
                </a:solidFill>
                <a:latin typeface="Consolas"/>
              </a:rPr>
              <a:t>DOMAINS · ONE POSTURE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877824"/>
            <a:ext cx="1417320" cy="566928"/>
          </a:xfrm>
          <a:prstGeom prst="roundRect">
            <a:avLst>
              <a:gd name="adj" fmla="val 22000"/>
            </a:avLst>
          </a:prstGeom>
          <a:solidFill>
            <a:srgbClr val="0C121B"/>
          </a:solidFill>
          <a:ln w="15875">
            <a:solidFill>
              <a:srgbClr val="1FB2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932688"/>
            <a:ext cx="1417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4F1EA"/>
                </a:solidFill>
                <a:latin typeface="Hanken Grotesk"/>
              </a:rPr>
              <a:t>Secrets</a:t>
            </a:r>
          </a:p>
          <a:p>
            <a:pPr algn="ctr"/>
            <a:r>
              <a:rPr sz="700" b="0" i="0" spc="100">
                <a:solidFill>
                  <a:srgbClr val="8A93A4"/>
                </a:solidFill>
                <a:latin typeface="Consolas"/>
              </a:rPr>
              <a:t>50 USE CASES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1" y="3904488"/>
            <a:ext cx="1417320" cy="566928"/>
          </a:xfrm>
          <a:prstGeom prst="roundRect">
            <a:avLst>
              <a:gd name="adj" fmla="val 22000"/>
            </a:avLst>
          </a:prstGeom>
          <a:solidFill>
            <a:srgbClr val="0C121B"/>
          </a:solidFill>
          <a:ln w="15875">
            <a:solidFill>
              <a:srgbClr val="61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1" y="3959352"/>
            <a:ext cx="1417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4F1EA"/>
                </a:solidFill>
                <a:latin typeface="Hanken Grotesk"/>
              </a:rPr>
              <a:t>Priv. Access</a:t>
            </a:r>
          </a:p>
          <a:p>
            <a:pPr algn="ctr"/>
            <a:r>
              <a:rPr sz="700" b="0" i="0" spc="100">
                <a:solidFill>
                  <a:srgbClr val="8A93A4"/>
                </a:solidFill>
                <a:latin typeface="Consolas"/>
              </a:rPr>
              <a:t>21 USE CASES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59568" y="3904488"/>
            <a:ext cx="1417320" cy="566928"/>
          </a:xfrm>
          <a:prstGeom prst="roundRect">
            <a:avLst>
              <a:gd name="adj" fmla="val 22000"/>
            </a:avLst>
          </a:prstGeom>
          <a:solidFill>
            <a:srgbClr val="0C121B"/>
          </a:solidFill>
          <a:ln w="15875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9568" y="3959352"/>
            <a:ext cx="1417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4F1EA"/>
                </a:solidFill>
                <a:latin typeface="Hanken Grotesk"/>
              </a:rPr>
              <a:t>Governance</a:t>
            </a:r>
          </a:p>
          <a:p>
            <a:pPr algn="ctr"/>
            <a:r>
              <a:rPr sz="700" b="0" i="0" spc="100">
                <a:solidFill>
                  <a:srgbClr val="8A93A4"/>
                </a:solidFill>
                <a:latin typeface="Consolas"/>
              </a:rPr>
              <a:t>19 USE CASES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440680"/>
            <a:ext cx="2554147" cy="960120"/>
          </a:xfrm>
          <a:prstGeom prst="roundRect">
            <a:avLst>
              <a:gd name="adj" fmla="val 5000"/>
            </a:avLst>
          </a:prstGeom>
          <a:solidFill>
            <a:srgbClr val="0E141D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" y="5550408"/>
            <a:ext cx="502920" cy="30480"/>
          </a:xfrm>
          <a:prstGeom prst="rect">
            <a:avLst/>
          </a:prstGeom>
          <a:solidFill>
            <a:srgbClr val="1FB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623560"/>
            <a:ext cx="22615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F4F1EA"/>
                </a:solidFill>
                <a:latin typeface="Georgia"/>
              </a:rPr>
              <a:t>90  </a:t>
            </a:r>
            <a:r>
              <a:rPr sz="650" b="0" i="0" spc="100">
                <a:solidFill>
                  <a:srgbClr val="8A93A4"/>
                </a:solidFill>
                <a:latin typeface="Consolas"/>
              </a:rPr>
              <a:t>USE CASES · 9 ARCHETYPES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F4F1EA"/>
                </a:solidFill>
                <a:latin typeface="Hanken Grotesk"/>
              </a:rPr>
              <a:t>Don't mis-buy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850" b="0" i="0">
                <a:solidFill>
                  <a:srgbClr val="8A93A4"/>
                </a:solidFill>
                <a:latin typeface="Hanken Grotesk"/>
              </a:rPr>
              <a:t>Stop paying for tools that don't close your gaps.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86835" y="5440680"/>
            <a:ext cx="2554147" cy="960120"/>
          </a:xfrm>
          <a:prstGeom prst="roundRect">
            <a:avLst>
              <a:gd name="adj" fmla="val 5000"/>
            </a:avLst>
          </a:prstGeom>
          <a:solidFill>
            <a:srgbClr val="0E141D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6563" y="5550408"/>
            <a:ext cx="502920" cy="30480"/>
          </a:xfrm>
          <a:prstGeom prst="rect">
            <a:avLst/>
          </a:prstGeom>
          <a:solidFill>
            <a:srgbClr val="19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1427" y="5623560"/>
            <a:ext cx="22615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F4F1EA"/>
                </a:solidFill>
                <a:latin typeface="Georgia"/>
              </a:rPr>
              <a:t>71  </a:t>
            </a:r>
            <a:r>
              <a:rPr sz="650" b="0" i="0" spc="100">
                <a:solidFill>
                  <a:srgbClr val="8A93A4"/>
                </a:solidFill>
                <a:latin typeface="Consolas"/>
              </a:rPr>
              <a:t>IDENTITY CLASSES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F4F1EA"/>
                </a:solidFill>
                <a:latin typeface="Hanken Grotesk"/>
              </a:rPr>
              <a:t>Don't over-build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850" b="0" i="0">
                <a:solidFill>
                  <a:srgbClr val="8A93A4"/>
                </a:solidFill>
                <a:latin typeface="Hanken Grotesk"/>
              </a:rPr>
              <a:t>See where in-house controls replace licence spend.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50711" y="5440680"/>
            <a:ext cx="2554147" cy="960120"/>
          </a:xfrm>
          <a:prstGeom prst="roundRect">
            <a:avLst>
              <a:gd name="adj" fmla="val 5000"/>
            </a:avLst>
          </a:prstGeom>
          <a:solidFill>
            <a:srgbClr val="0E141D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0439" y="5550408"/>
            <a:ext cx="502920" cy="3048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15303" y="5623560"/>
            <a:ext cx="22615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F4F1EA"/>
                </a:solidFill>
                <a:latin typeface="Georgia"/>
              </a:rPr>
              <a:t>10  </a:t>
            </a:r>
            <a:r>
              <a:rPr sz="650" b="0" i="0" spc="100">
                <a:solidFill>
                  <a:srgbClr val="8A93A4"/>
                </a:solidFill>
                <a:latin typeface="Consolas"/>
              </a:rPr>
              <a:t>FRAMEWORKS · CONTROL-LEVEL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F4F1EA"/>
                </a:solidFill>
                <a:latin typeface="Hanken Grotesk"/>
              </a:rPr>
              <a:t>Don't fail audit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850" b="0" i="0">
                <a:solidFill>
                  <a:srgbClr val="8A93A4"/>
                </a:solidFill>
                <a:latin typeface="Hanken Grotesk"/>
              </a:rPr>
              <a:t>Cited control mappings cut audit friction and fines.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14587" y="5440680"/>
            <a:ext cx="2554147" cy="960120"/>
          </a:xfrm>
          <a:prstGeom prst="roundRect">
            <a:avLst>
              <a:gd name="adj" fmla="val 5000"/>
            </a:avLst>
          </a:prstGeom>
          <a:solidFill>
            <a:srgbClr val="0E141D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24315" y="5550408"/>
            <a:ext cx="502920" cy="30480"/>
          </a:xfrm>
          <a:prstGeom prst="rect">
            <a:avLst/>
          </a:prstGeom>
          <a:solidFill>
            <a:srgbClr val="61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9179" y="5623560"/>
            <a:ext cx="22615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F4F1EA"/>
                </a:solidFill>
                <a:latin typeface="Georgia"/>
              </a:rPr>
              <a:t>1  </a:t>
            </a:r>
            <a:r>
              <a:rPr sz="650" b="0" i="0" spc="100">
                <a:solidFill>
                  <a:srgbClr val="8A93A4"/>
                </a:solidFill>
                <a:latin typeface="Consolas"/>
              </a:rPr>
              <a:t>RE-RUNNABLE SOURCE OF TRUTH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F4F1EA"/>
                </a:solidFill>
                <a:latin typeface="Hanken Grotesk"/>
              </a:rPr>
              <a:t>Don't re-assess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sz="850" b="0" i="0">
                <a:solidFill>
                  <a:srgbClr val="8A93A4"/>
                </a:solidFill>
                <a:latin typeface="Hanken Grotesk"/>
              </a:rPr>
              <a:t>One instrument replaces three RFP cycles.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510528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00" b="0" i="0" spc="200">
                <a:solidFill>
                  <a:srgbClr val="5C6577"/>
                </a:solidFill>
                <a:latin typeface="Consolas"/>
              </a:rPr>
              <a:t>HUMAN · MACHINE · AGENTIC IDENTITIES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0735" y="6510528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 spc="150">
                <a:solidFill>
                  <a:srgbClr val="8A93A4"/>
                </a:solidFill>
                <a:latin typeface="Consolas"/>
              </a:rPr>
              <a:t>ESSENTIAL 8 · APRA CPS 234/230 · ASD ISM · CISA ZTMM · MITRE ATT&amp;CK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